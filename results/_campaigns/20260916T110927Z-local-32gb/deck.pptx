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8BFF"/>
                </a:solidFill>
                <a:latin typeface="Calibri"/>
              </a:rPr>
              <a:t>CAMPAIGN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55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E8ECF1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8B96A4"/>
                </a:solidFill>
                <a:latin typeface="Calibri"/>
              </a:rPr>
              <a:t>profile local-32gb  ·  workload kv-mixed  ·  native-kv-mixed  ·  platform-native — not a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120640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onsolas"/>
              </a:rPr>
              <a:t>generated  2026-09-16 12:48 UTC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40680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B96A4"/>
                </a:solidFill>
                <a:latin typeface="Calibri"/>
              </a:rPr>
              <a:t>Numbers from result.json  ·  charts from monitoring-report.html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  / 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E8ECF1"/>
                </a:solidFill>
                <a:latin typeface="Calibri"/>
              </a:rPr>
              <a:t>1.  How to read a number — T1 / T2 / T3, confirmed vs offered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8ECF1"/>
                </a:solidFill>
                <a:latin typeface="Calibri"/>
              </a:rPr>
              <a:t>2.  Probe-and-sweep — ladder, hold at 0.9×knee, in-flight cap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8ECF1"/>
                </a:solidFill>
                <a:latin typeface="Calibri"/>
              </a:rPr>
              <a:t>3.  Load path — Gateway gRPC / Arma gRPC / ZMQ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8ECF1"/>
                </a:solidFill>
                <a:latin typeface="Calibri"/>
              </a:rPr>
              <a:t>4.  Headline results and why some rows are excluded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8ECF1"/>
                </a:solidFill>
                <a:latin typeface="Calibri"/>
              </a:rPr>
              <a:t>5.  Workload semantics — kv-mixed reads, JSON-wrap, state DB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E8ECF1"/>
                </a:solidFill>
                <a:latin typeface="Calibri"/>
              </a:rPr>
              <a:t>6.  Per-platform deep dive, then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2  / 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How to read a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Headline throughput and latency always use T3. NeuChain T2 is a local send, not submit latency.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556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035040"/>
                <a:gridCol w="38404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6A4"/>
                          </a:solidFill>
                          <a:latin typeface="Calibri"/>
                        </a:rPr>
                        <a:t>Stamp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B96A4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B96A4"/>
                          </a:solidFill>
                          <a:latin typeface="Calibri"/>
                        </a:rPr>
                        <a:t>Who sets it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1"/>
                          </a:solidFill>
                          <a:latin typeface="Calibri"/>
                        </a:rPr>
                        <a:t>T1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Immediately before Submit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Load generator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1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Platform acknowledged receipt (async ack)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Adapter Submit / AckTime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1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Committed in a block, or read path returns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Adapter WaitForFinality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461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Headline TPS = confirmed commits per second from T3 timestamps, never T1.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Offered TPS = submitted / wall-clock — the load actually presented.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End-to-end latency = T3 − scheduled send (coordinated-omission safe).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NeuChain T2 is “bytes left the client socket.” Never quote it as submit latency.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A hold with every sweep step held is a lower bound on the knee, not the knee.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3  / 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Probe-and-sweep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ECF1"/>
                </a:solidFill>
                <a:latin typeface="Calibri"/>
              </a:rPr>
              <a:t>Probe at 10 TPS × 30 s — floor latency, no load on the platform.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ECF1"/>
                </a:solidFill>
                <a:latin typeface="Calibri"/>
              </a:rPr>
              <a:t>Sweep a shared ladder (same steps on every platform). A step holds only if fail ≤ 2%, confirmed ≥ 95% of offered, and send-gap p99 ≤ 50 ms.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ECF1"/>
                </a:solidFill>
                <a:latin typeface="Calibri"/>
              </a:rPr>
              <a:t>After 2 consecutive failed steps, higher rungs are skipped. That is abort, not a shorter config.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ECF1"/>
                </a:solidFill>
                <a:latin typeface="Calibri"/>
              </a:rPr>
              <a:t>Hold 5 min at 0.9 × the highest step that actually held — not 90% of the top of the YAML.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ECF1"/>
                </a:solidFill>
                <a:latin typeface="Calibri"/>
              </a:rPr>
              <a:t>In-flight cap ≈ max(target_tps × 8, 1024). If the platform stops finalizing, excess txs fail as “not sent: already in flight.”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8ECF1"/>
                </a:solidFill>
                <a:latin typeface="Calibri"/>
              </a:rPr>
              <a:t>Same seed, key space, warmup/cooldown, and sequential isolation. Native and normalized never share a ranking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4  / 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LOAD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What hits the wire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One logical Transaction. Each adapter turns it into the platform’s real API.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114300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468880"/>
                <a:gridCol w="2468880"/>
                <a:gridCol w="2606040"/>
                <a:gridCol w="2423160"/>
              </a:tblGrid>
              <a:tr h="329183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6A4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B96A4"/>
                          </a:solidFill>
                          <a:latin typeface="Calibri"/>
                        </a:rPr>
                        <a:t>fabric-cft / bft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B96A4"/>
                          </a:solidFill>
                          <a:latin typeface="Calibri"/>
                        </a:rPr>
                        <a:t>drunix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B96A4"/>
                          </a:solidFill>
                          <a:latin typeface="Calibri"/>
                        </a:rPr>
                        <a:t>fabricx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8B96A4"/>
                          </a:solidFill>
                          <a:latin typeface="Calibri"/>
                        </a:rPr>
                        <a:t>neuchain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1"/>
                          </a:solidFill>
                          <a:latin typeface="Calibri"/>
                        </a:rPr>
                        <a:t>Client API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Gateway gRPC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Gateway gRPC (LP)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Arma + deliver gRPC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ZMQ PUB/REQ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1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kvstore chaincode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same kvstore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adapter RW-set (ns 0)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YCSB protobuf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</a:tr>
              <a:tr h="329183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1"/>
                          </a:solidFill>
                          <a:latin typeface="Calibri"/>
                        </a:rPr>
                        <a:t>T2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orderer/gateway accept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LP/orderer accept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first router SUCCESS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local send return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</a:tr>
              <a:tr h="32918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1"/>
                          </a:solidFill>
                          <a:latin typeface="Calibri"/>
                        </a:rPr>
                        <a:t>T3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peer block events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Committing Peer events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deliver :4001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tip/block poll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60520"/>
            <a:ext cx="111556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8B96A4"/>
                </a:solidFill>
                <a:latin typeface="Calibri"/>
              </a:rPr>
              <a:t>NeuChain T2 is not a platform acknowledgement. Compare NeuChain on confirmed TPS and e2e (T3) only.
Fabric-X T2 is a real ack: first SUCCESS from the four Arma routers, before ordering and commit.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5  / 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LOAD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Fabric family — Gateway gRPC + chaincode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1417320" cy="77724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Tx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19656" y="1728216"/>
            <a:ext cx="182880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39112" y="1417320"/>
            <a:ext cx="1417320" cy="77724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adapter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93008" y="1728216"/>
            <a:ext cx="182880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12464" y="1417320"/>
            <a:ext cx="1417320" cy="77724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Gateway
:7051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166360" y="1728216"/>
            <a:ext cx="182880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85816" y="1417320"/>
            <a:ext cx="1417320" cy="77724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kvstore CC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39712" y="1728216"/>
            <a:ext cx="182880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59168" y="1417320"/>
            <a:ext cx="1417320" cy="77724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Orderer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513064" y="1728216"/>
            <a:ext cx="182880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2520" y="1417320"/>
            <a:ext cx="1417320" cy="77724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VSCC / MVCC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186416" y="1728216"/>
            <a:ext cx="182880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05872" y="1417320"/>
            <a:ext cx="1417320" cy="777240"/>
          </a:xfrm>
          <a:prstGeom prst="roundRect">
            <a:avLst/>
          </a:prstGeom>
          <a:solidFill>
            <a:srgbClr val="3D8BFF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14600"/>
            <a:ext cx="3520440" cy="2148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642616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D8BFF"/>
                </a:solidFill>
                <a:latin typeface="Calibri"/>
              </a:rPr>
              <a:t>fabric-cft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017520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Raft ×1 orderer
LevelDB  ·  5 containers
Endorse → order → commit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2514600"/>
            <a:ext cx="3520440" cy="2148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2642616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D8BFF"/>
                </a:solidFill>
                <a:latin typeface="Calibri"/>
              </a:rPr>
              <a:t>fabric-bft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017520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SmartBFT ×4 orderers
Same Put path as CFT
Thinner per-container 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2514600"/>
            <a:ext cx="3520440" cy="2148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2642616"/>
            <a:ext cx="3246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D8BFF"/>
                </a:solidFill>
                <a:latin typeface="Calibri"/>
              </a:rPr>
              <a:t>drunix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3017520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CF1"/>
                </a:solidFill>
                <a:latin typeface="Calibri"/>
              </a:rPr>
              <a:t>Lite Peer → CP :7061
Yugabyte  ·  JSON-wrap
~13 containers on this 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46320"/>
            <a:ext cx="111556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kv-read / kv-mixed reads on this family are Gateway Evaluate on one peer — no orderer, no commit.
That is not the same path as a NeuChain read, which is a committed transaction.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6  / 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LOAD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Fabric-X (Arma gRPC)  and  NeuChain (ZMQ)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623560" cy="493776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D8BFF"/>
                </a:solidFill>
                <a:latin typeface="Calibri"/>
              </a:rPr>
              <a:t>fabricx — no chaincode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554480" cy="64008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TxWrite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31136" y="2157984"/>
            <a:ext cx="201168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1920240"/>
            <a:ext cx="1554480" cy="64008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sign ns 0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59936" y="2157984"/>
            <a:ext cx="201168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920240"/>
            <a:ext cx="1554480" cy="64008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4 Arma
routers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1554480" cy="64008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T2 first
SUCCESS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31136" y="3026664"/>
            <a:ext cx="201168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68880" y="2788920"/>
            <a:ext cx="1554480" cy="64008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committer
+ Postgres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059936" y="3026664"/>
            <a:ext cx="201168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2788920"/>
            <a:ext cx="1554480" cy="640080"/>
          </a:xfrm>
          <a:prstGeom prst="roundRect">
            <a:avLst/>
          </a:prstGeom>
          <a:solidFill>
            <a:srgbClr val="3D8BFF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deliver
:4001  T3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512064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B96A4"/>
                </a:solidFill>
                <a:latin typeface="Calibri"/>
              </a:rPr>
              <a:t>Broadcast the same envelope to all four routers (avoids ~10 s FirstStrike).
Reads are QueryService GetRows — not ordered.
T2 is a real platform 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280160"/>
            <a:ext cx="5623560" cy="493776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4173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D8BFF"/>
                </a:solidFill>
                <a:latin typeface="Calibri"/>
              </a:rPr>
              <a:t>neuchain — EV, no ordering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920240"/>
            <a:ext cx="1554480" cy="64008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YCSB +
RSA-1024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991856" y="2157984"/>
            <a:ext cx="201168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1920240"/>
            <a:ext cx="1554480" cy="64008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ZMQ PUB
:5001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820656" y="2157984"/>
            <a:ext cx="201168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58400" y="1920240"/>
            <a:ext cx="1554480" cy="64008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T2 local
send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788920"/>
            <a:ext cx="1554480" cy="64008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EV nodes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91856" y="3026664"/>
            <a:ext cx="201168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0" y="2788920"/>
            <a:ext cx="1554480" cy="640080"/>
          </a:xfrm>
          <a:prstGeom prst="roundRect">
            <a:avLst/>
          </a:prstGeom>
          <a:solidFill>
            <a:srgbClr val="22262E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ECF1"/>
                </a:solidFill>
                <a:latin typeface="Calibri"/>
              </a:rPr>
              <a:t>poll tip
:7003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820656" y="3026664"/>
            <a:ext cx="201168" cy="164592"/>
          </a:xfrm>
          <a:prstGeom prst="rightArrow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0" y="2788920"/>
            <a:ext cx="1554480" cy="640080"/>
          </a:xfrm>
          <a:prstGeom prst="roundRect">
            <a:avLst/>
          </a:prstGeom>
          <a:solidFill>
            <a:srgbClr val="3D8BFF"/>
          </a:solidFill>
          <a:ln w="15875">
            <a:solidFill>
              <a:srgbClr val="3D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40480"/>
            <a:ext cx="512064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B96A4"/>
                </a:solidFill>
                <a:latin typeface="Calibri"/>
              </a:rPr>
              <a:t>T2 is not comparable — it is the local send return, not a platform ack.
Never quote NeuChain submit latency.
Reads are committed transactions, unlike Fabric Evaluate.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7  / 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Headline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platform-native — not a ranking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3608832" cy="141732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89888"/>
            <a:ext cx="342595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1800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94560"/>
            <a:ext cx="34259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fabric-bft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04872"/>
            <a:ext cx="342595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alibri"/>
              </a:rPr>
              <a:t>p50 44.5 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6344" y="1280160"/>
            <a:ext cx="3608832" cy="141732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6072" y="1389888"/>
            <a:ext cx="342595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13500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6072" y="2194560"/>
            <a:ext cx="34259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fabricx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6072" y="2404872"/>
            <a:ext cx="342595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alibri"/>
              </a:rPr>
              <a:t>p50 180.1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768" y="1280160"/>
            <a:ext cx="3608832" cy="141732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9496" y="1389888"/>
            <a:ext cx="3425952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8996.5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9496" y="2194560"/>
            <a:ext cx="342595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neuchain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9496" y="2404872"/>
            <a:ext cx="3425952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alibri"/>
              </a:rPr>
              <a:t>p50 134.0 ms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926080"/>
          <a:ext cx="103327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463040"/>
                <a:gridCol w="1371600"/>
                <a:gridCol w="1371600"/>
                <a:gridCol w="1280160"/>
                <a:gridCol w="146304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6A4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6A4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B96A4"/>
                          </a:solidFill>
                          <a:latin typeface="Calibri"/>
                        </a:rPr>
                        <a:t>Hold TPS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B96A4"/>
                          </a:solidFill>
                          <a:latin typeface="Calibri"/>
                        </a:rPr>
                        <a:t>p50 ms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B96A4"/>
                          </a:solidFill>
                          <a:latin typeface="Calibri"/>
                        </a:rPr>
                        <a:t>p99 ms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B96A4"/>
                          </a:solidFill>
                          <a:latin typeface="Calibri"/>
                        </a:rPr>
                        <a:t>Fail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8B96A4"/>
                          </a:solidFill>
                          <a:latin typeface="Calibri"/>
                        </a:rPr>
                        <a:t>Knee</a:t>
                      </a:r>
                    </a:p>
                  </a:txBody>
                  <a:tcPr>
                    <a:solidFill>
                      <a:srgbClr val="15181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0A04A"/>
                          </a:solidFill>
                          <a:latin typeface="Calibri"/>
                        </a:rPr>
                        <a:t>fabric-cft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0A04A"/>
                          </a:solidFill>
                          <a:latin typeface="Calibri"/>
                        </a:rPr>
                        <a:t>excluded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0A04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0A04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0A04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0A04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0A04A"/>
                          </a:solidFill>
                          <a:latin typeface="Consolas"/>
                        </a:rPr>
                        <a:t>5000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1"/>
                          </a:solidFill>
                          <a:latin typeface="Calibri"/>
                        </a:rPr>
                        <a:t>fabric-bft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8ECF1"/>
                          </a:solidFill>
                          <a:latin typeface="Calibri"/>
                        </a:rPr>
                        <a:t>hold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1800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44.5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434.7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0.00%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2000</a:t>
                      </a:r>
                    </a:p>
                  </a:txBody>
                  <a:tcPr>
                    <a:solidFill>
                      <a:srgbClr val="2226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0A04A"/>
                          </a:solidFill>
                          <a:latin typeface="Calibri"/>
                        </a:rPr>
                        <a:t>drunix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0A04A"/>
                          </a:solidFill>
                          <a:latin typeface="Calibri"/>
                        </a:rPr>
                        <a:t>excluded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0A04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0A04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0A04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0A04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0A04A"/>
                          </a:solidFill>
                          <a:latin typeface="Consolas"/>
                        </a:rPr>
                        <a:t>1000</a:t>
                      </a:r>
                    </a:p>
                  </a:txBody>
                  <a:tcPr>
                    <a:solidFill>
                      <a:srgbClr val="3A2F2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1"/>
                          </a:solidFill>
                          <a:latin typeface="Calibri"/>
                        </a:rPr>
                        <a:t>fabricx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8ECF1"/>
                          </a:solidFill>
                          <a:latin typeface="Calibri"/>
                        </a:rPr>
                        <a:t>lower bound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13500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180.1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732.2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0.00%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≥ 15000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1"/>
                          </a:solidFill>
                          <a:latin typeface="Calibri"/>
                        </a:rPr>
                        <a:t>neuchain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8ECF1"/>
                          </a:solidFill>
                          <a:latin typeface="Calibri"/>
                        </a:rPr>
                        <a:t>lower bound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8996.5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134.0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248.1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0.04%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8ECF1"/>
                          </a:solidFill>
                          <a:latin typeface="Consolas"/>
                        </a:rPr>
                        <a:t>≥ 10000</a:t>
                      </a:r>
                    </a:p>
                  </a:txBody>
                  <a:tcPr>
                    <a:solidFill>
                      <a:srgbClr val="242C3A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Amber rows are excluded (OOM / no headline). Blue-grey rows did not saturate — quote as a lower bound, not a knee. Not sorted by TPS.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8  / 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Why rows are excluded — or not a knee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fabric-cft  ·  EXCLUDED  ·  OOM: peer0.org1.example.com, dev-peer0.org1.example.com-kvstore_1.0-e88284a33ff88069…; no headline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drunix  ·  EXCLUDED  ·  OOM: dev-peer0.org1.example.com-kvstore_1.0-e88284a33ff8806958375f99312782794164d62a…; no headline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fabricx  ·  LOWER BOUND  ·  never saturated — 15000 TPS is a lower bound, not a knee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neuchain  ·  LOWER BOUND  ·  never saturated — 10000 TPS is a lower bound, not a knee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OOM is a resource-split failure, not evidence the platform “cannot do TPS.” A lower bound means extend the ladder; do not publish it as saturation.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9  / 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Read / write semantics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kv-mixed at 50% reads: headline TPS blends two paths and is not a write ceiling.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Fabric / Drunix / Fabric-X reads are Evaluate / QueryService — not ordered, not committed.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NeuChain reads are committed transactions. Do not compare mixed-read TPS across those families as if the work were equal.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Drunix write values are JSON-wrapped client-side so Yugabyte JSONB does not panic; on-wire size differs.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state_db is what actually ran; state_db_requested is the contract. They differ on Drunix (Yugabyte) and Fabric-X (Postgres).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Native and normalized numbers never share a ranking table. Native kv-mixed is not ranked against native kv-write.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fabric-cft: leveldb (requested leveldb, parity held)  ·  fabric-bft: leveldb (requested leveldb, parity held)  ·  drunix: yugabyte (requested yugabyte, parity held)  ·  fabricx: postgres (requested postgres, parity held)  ·  neuchain: leveldb (requested leveldb, parity held)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10  / 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FABRIC-CFT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fabric-cft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2.5.16  ·  platform-native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51760" cy="1371600"/>
          </a:xfrm>
          <a:prstGeom prst="roundRect">
            <a:avLst/>
          </a:prstGeom>
          <a:solidFill>
            <a:srgbClr val="3A2F24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E0A04A"/>
                </a:solidFill>
                <a:latin typeface="Consola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no headline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280160"/>
            <a:ext cx="2651760" cy="1371600"/>
          </a:xfrm>
          <a:prstGeom prst="roundRect">
            <a:avLst/>
          </a:prstGeom>
          <a:solidFill>
            <a:srgbClr val="3A2F24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>
                <a:solidFill>
                  <a:srgbClr val="E0A04A"/>
                </a:solidFill>
                <a:latin typeface="Consolas"/>
              </a:rPr>
              <a:t>container-failed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campaign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280160"/>
            <a:ext cx="2651760" cy="1371600"/>
          </a:xfrm>
          <a:prstGeom prst="roundRect">
            <a:avLst/>
          </a:prstGeom>
          <a:solidFill>
            <a:srgbClr val="3A2F24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E0A04A"/>
                </a:solidFill>
                <a:latin typeface="Consolas"/>
              </a:rPr>
              <a:t>5000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detected saturation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280160"/>
            <a:ext cx="2651760" cy="1371600"/>
          </a:xfrm>
          <a:prstGeom prst="roundRect">
            <a:avLst/>
          </a:prstGeom>
          <a:solidFill>
            <a:srgbClr val="3A2F24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E0A04A"/>
                </a:solidFill>
                <a:latin typeface="Consolas"/>
              </a:rPr>
              <a:t>excluded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not a measurement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11155680" cy="233172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90088"/>
            <a:ext cx="10789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Topology  ·  batch  ·  crypto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19272"/>
            <a:ext cx="107899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CF1"/>
                </a:solidFill>
                <a:latin typeface="Consolas"/>
              </a:rPr>
              <a:t>chaincode×2 · orderer×1 · peer×2   ·   5 containers   ·   18 CPU / 20 GB
batch    msgcount=500  timeout=500ms  preferred=4 MB
crypto   sig=ECDSA-P256  hash=SHA-256  per_tx_endorse_verify=true
state DB leveldb   (requested leveldb)
workload kv-mixed   generators 2   seed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0A04A"/>
                </a:solidFill>
                <a:latin typeface="Calibri"/>
              </a:rPr>
              <a:t>OOM: peer0.org1.example.com, dev-peer0.org1.example.com-kvstore_1.0-e88284a33ff88069…; no headline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11  / 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FABRIC-CFT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Sweep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Offered vs confirmed (T3) vs fail rate. Full phase table lives in summary.txt, not here.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3856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12  / 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FABRIC-CFT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Host and container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PNG charts already embedded in monitoring-report.html. Empty placeholders skipped.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Host CPU utilisation (node_exporter)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3413760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8244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Container CPU cores (cAdvisor)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80" y="1645920"/>
            <a:ext cx="3413760" cy="3886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6196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340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Container memory (RSS)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645920"/>
            <a:ext cx="3413760" cy="3886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13  / 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FABRIC-BFT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fabric-bft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3.1.5  ·  platform-native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1800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confirmed TPS (T3)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44.5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e2e p50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434.7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e2e p99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0.00%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fail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11155680" cy="233172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90088"/>
            <a:ext cx="10789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Topology  ·  batch  ·  crypto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19272"/>
            <a:ext cx="107899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CF1"/>
                </a:solidFill>
                <a:latin typeface="Consolas"/>
              </a:rPr>
              <a:t>chaincode×2 · orderer×4 · peer×2   ·   8 containers   ·   18 CPU / 20 GB
batch    msgcount=250  timeout=1s  preferred=4 MB
crypto   sig=ECDSA-P256  hash=SHA-256  per_tx_endorse_verify=true
state DB leveldb   (requested leveldb)
workload kv-mixed   generators 2   seed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kv-mixed native: Fabric/Drunix/Fabric-X reads are Evaluate/QueryService (not ordered); NeuChain reads are committed transactions. Headline TPS blends two paths.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14  / 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FABRIC-BFT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Sweep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Offered vs confirmed (T3) vs fail rate. Full phase table lives in summary.txt, not here.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3856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15  / 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FABRIC-BFT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Host and container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PNG charts already embedded in monitoring-report.html. Empty placeholders skipped.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Host CPU utilisation (node_exporter)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3413760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8244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Container CPU cores (cAdvisor)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80" y="1645920"/>
            <a:ext cx="3413760" cy="3886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6196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340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Container memory (RSS)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645920"/>
            <a:ext cx="3413760" cy="3886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16  / 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DRUNIX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drunix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drunix-ddc0eae77815  ·  platform-native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51760" cy="1371600"/>
          </a:xfrm>
          <a:prstGeom prst="roundRect">
            <a:avLst/>
          </a:prstGeom>
          <a:solidFill>
            <a:srgbClr val="3A2F24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E0A04A"/>
                </a:solidFill>
                <a:latin typeface="Consola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no headline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280160"/>
            <a:ext cx="2651760" cy="1371600"/>
          </a:xfrm>
          <a:prstGeom prst="roundRect">
            <a:avLst/>
          </a:prstGeom>
          <a:solidFill>
            <a:srgbClr val="3A2F24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3200" b="1">
                <a:solidFill>
                  <a:srgbClr val="E0A04A"/>
                </a:solidFill>
                <a:latin typeface="Consolas"/>
              </a:rPr>
              <a:t>container-failed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campaign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280160"/>
            <a:ext cx="2651760" cy="1371600"/>
          </a:xfrm>
          <a:prstGeom prst="roundRect">
            <a:avLst/>
          </a:prstGeom>
          <a:solidFill>
            <a:srgbClr val="3A2F24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E0A04A"/>
                </a:solidFill>
                <a:latin typeface="Consolas"/>
              </a:rPr>
              <a:t>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detected saturation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280160"/>
            <a:ext cx="2651760" cy="1371600"/>
          </a:xfrm>
          <a:prstGeom prst="roundRect">
            <a:avLst/>
          </a:prstGeom>
          <a:solidFill>
            <a:srgbClr val="3A2F24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E0A04A"/>
                </a:solidFill>
                <a:latin typeface="Consolas"/>
              </a:rPr>
              <a:t>excluded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not a measurement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11155680" cy="233172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90088"/>
            <a:ext cx="10789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Topology  ·  batch  ·  crypto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19272"/>
            <a:ext cx="107899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CF1"/>
                </a:solidFill>
                <a:latin typeface="Consolas"/>
              </a:rPr>
              <a:t>chaincode×2 · committing_peer×2 · keydb×2 · lite_peer×2 · orderer×1 · validation_service×2 · yugabyte×2   ·   13 containers   ·   18 CPU / 20 GB
batch    msgcount=500  timeout=500ms  preferred=4 MB
crypto   sig=ECDSA-P256  hash=SHA-256  per_tx_endorse_verify=true
state DB yugabyte   (requested yugabyte)
workload kv-mixed   generators 2   seed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0A04A"/>
                </a:solidFill>
                <a:latin typeface="Calibri"/>
              </a:rPr>
              <a:t>OOM: dev-peer0.org1.example.com-kvstore_1.0-e88284a33ff8806958375f99312782794164d62a…; no headline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17  / 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DRUNIX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Sweep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Offered vs confirmed (T3) vs fail rate. Full phase table lives in summary.txt, not here.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3856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18  / 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DRUNIX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Host and container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PNG charts already embedded in monitoring-report.html. Empty placeholders skipped.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Host CPU utilisation (node_exporter)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3413760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8244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Container CPU cores (cAdvisor)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80" y="1645920"/>
            <a:ext cx="3413760" cy="3886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6196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340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Container memory (RSS)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645920"/>
            <a:ext cx="3413760" cy="3886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19  / 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FABRICX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fabricx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fabricx-committer-v1.0.5-orderer-v1.0.6  ·  platform-native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13500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confirmed TPS (T3)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180.1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e2e p50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732.2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e2e p99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0.00%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fail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11155680" cy="233172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90088"/>
            <a:ext cx="10789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Topology  ·  batch  ·  crypto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19272"/>
            <a:ext cx="107899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CF1"/>
                </a:solidFill>
                <a:latin typeface="Consolas"/>
              </a:rPr>
              <a:t>arma×1 · committer×1 · pipeline×1 · postgres×1   ·   4 containers   ·   18 CPU / 20 GB
batch    msgcount=500  timeout=500ms  preferred=4 MB
crypto   sig=ECDSA-P256  hash=SHA-256  per_tx_endorse_verify=true
state DB postgres   (requested postgres)
workload kv-mixed   generators 3   seed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every sweep step held: the platform did not saturate within the ladder, so 15000 TPS is a lower bound on its knee, not the knee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20  / 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FABRICX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Sweep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Offered vs confirmed (T3) vs fail rate. Full phase table lives in summary.txt, not here.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3856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21  / 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FABRICX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Host and container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PNG charts already embedded in monitoring-report.html. Empty placeholders skipped.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Host CPU utilisation (node_exporter)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3413760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8244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Container CPU cores (cAdvisor)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80" y="1645920"/>
            <a:ext cx="3413760" cy="3886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6196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340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Container memory (RSS)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645920"/>
            <a:ext cx="3413760" cy="3886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22  / 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NEUCHAIN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neuchain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neuchain-ev-patched  ·  platform-native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8996.5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confirmed TPS (T3)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134.0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e2e p50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248.1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e2e p99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1976" y="1280160"/>
            <a:ext cx="2651760" cy="137160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61704" y="1389888"/>
            <a:ext cx="24688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4400" b="1">
                <a:solidFill>
                  <a:srgbClr val="3D8BFF"/>
                </a:solidFill>
                <a:latin typeface="Consolas"/>
              </a:rPr>
              <a:t>0.04%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2148840"/>
            <a:ext cx="2468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8B96A4"/>
                </a:solidFill>
                <a:latin typeface="Calibri"/>
              </a:rPr>
              <a:t>fail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11155680" cy="233172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90088"/>
            <a:ext cx="10789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Topology  ·  batch  ·  crypto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19272"/>
            <a:ext cx="1078992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8ECF1"/>
                </a:solidFill>
                <a:latin typeface="Consolas"/>
              </a:rPr>
              <a:t>block_server×4 · epoch_server×4   ·   4 containers   ·   18 CPU / 20 GB
batch    n/a
crypto   sig=RSA-1024-PKCS1v15  hash=SHA-256  per_tx_endorse_verify=false
state DB leveldb   (requested leveldb)
workload kv-mixed   generators 3   seed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11556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every sweep step held: the platform did not saturate within the ladder, so 10000 TPS is a lower bound on its knee, not the knee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3D8BFF"/>
                </a:solidFill>
                <a:latin typeface="Calibri"/>
              </a:rPr>
              <a:t>T2 is local send — submit/commit split is not shown and is not comparable.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23  / 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NEUCHAIN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Sweep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Offered vs confirmed (T3) vs fail rate. Full phase table lives in summary.txt, not here.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1133856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24  / 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NEUCHAIN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Host and container 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8B96A4"/>
                </a:solidFill>
                <a:latin typeface="Calibri"/>
              </a:rPr>
              <a:t>PNG charts already embedded in monitoring-report.html. Empty placeholders skipped.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Host CPU utilisation (node_exporter)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3413760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28244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Container CPU cores (cAdvisor)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880" y="1645920"/>
            <a:ext cx="3413760" cy="3886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61960" y="1234440"/>
            <a:ext cx="3596640" cy="4434840"/>
          </a:xfrm>
          <a:prstGeom prst="roundRect">
            <a:avLst/>
          </a:prstGeom>
          <a:solidFill>
            <a:srgbClr val="22262E"/>
          </a:solidFill>
          <a:ln w="12700">
            <a:solidFill>
              <a:srgbClr val="2A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3400" y="1280160"/>
            <a:ext cx="3413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8B96A4"/>
                </a:solidFill>
                <a:latin typeface="Calibri"/>
              </a:rPr>
              <a:t>Container memory (RSS)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645920"/>
            <a:ext cx="3413760" cy="3886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25  / 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3D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8BFF"/>
                </a:solidFill>
                <a:latin typeface="Calibr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E8ECF1"/>
                </a:solidFill>
                <a:latin typeface="Calibri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This campaign is platform-native kv-mixed. These numbers are not a ranking, and they are not comparable to normalized kv-write or to native write ceilings.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Real hold (a knee was found): fabric-bft 1800.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Lower bound, not a knee — extend the ladder before quoting saturation: fabricx 13500 (ladder ≥ 15000); neuchain 8996.5 (ladder ≥ 10000).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Excluded (OOM / no headline): fabric-cft, drunix. Rerun on a profile that leaves more RAM per container; do not read this as a TPS ceiling.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E8ECF1"/>
                </a:solidFill>
                <a:latin typeface="Calibri"/>
              </a:rPr>
              <a:t>NeuChain T2 is never submit latency. kv-mixed headline TPS blends Evaluate/QueryService reads with committed NeuChain reads.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686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8B96A4"/>
                </a:solidFill>
                <a:latin typeface="Consolas"/>
              </a:rPr>
              <a:t>20260916T110927Z-local-32gb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4173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8B96A4"/>
                </a:solidFill>
                <a:latin typeface="Consolas"/>
              </a:rPr>
              <a:t>26  /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